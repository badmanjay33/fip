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Urbanist Medium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7EAC58-E530-4962-A349-26E5EFB9B576}">
  <a:tblStyle styleId="{D67EAC58-E530-4962-A349-26E5EFB9B5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Lato-italic.fntdata"/><Relationship Id="rId1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0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295275" y="255656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Four Pillars of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Generative AI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571500" y="372993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Comparing GANs, VAEs, Diffusion, and Autoregressive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100" y="3162300"/>
            <a:ext cx="58674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25" y="3552825"/>
            <a:ext cx="132397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0" y="3552825"/>
            <a:ext cx="14954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3552825"/>
            <a:ext cx="17716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904875" y="2609850"/>
            <a:ext cx="4276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Two networks locked in a zero-sum game. The Generator creates fake images, and the Discriminator tries to spot them.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04875" y="3705225"/>
            <a:ext cx="42767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Strengths: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Ultra-fast generation (single step) and incredibly sharp, high-resolution outputs.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04875" y="4514850"/>
            <a:ext cx="4276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Weaknesses: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Highly unstable to train. Prone to "Mode Collapse" (generating the same image repeatedly).</a:t>
            </a:r>
            <a:endParaRPr/>
          </a:p>
        </p:txBody>
      </p:sp>
      <p:pic>
        <p:nvPicPr>
          <p:cNvPr descr="image.png" id="149" name="Google Shape;14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67600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10675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Generative Adversarial Networks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(GANs)</a:t>
            </a:r>
            <a:endParaRPr/>
          </a:p>
        </p:txBody>
      </p:sp>
      <p:pic>
        <p:nvPicPr>
          <p:cNvPr descr="image.png" id="152" name="Google Shape;15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6098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7052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148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3162300"/>
            <a:ext cx="57531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7925" y="3667125"/>
            <a:ext cx="13144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025" y="3552825"/>
            <a:ext cx="18288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96475" y="3667125"/>
            <a:ext cx="13335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904875" y="2266950"/>
            <a:ext cx="43910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 Encoder compresses an image into a tiny mathematical probability map (latent space). A Decoder reconstructs it.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904875" y="3362325"/>
            <a:ext cx="43910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Strengths: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Extremely stable. Allows for smooth control over specific visual features (like gradually adding a smile to a face).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904875" y="4457700"/>
            <a:ext cx="43910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Weaknesses: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Outputs tend to be slightly blurry or soft compared to GANs.</a:t>
            </a:r>
            <a:endParaRPr/>
          </a:p>
        </p:txBody>
      </p:sp>
      <p:pic>
        <p:nvPicPr>
          <p:cNvPr descr="image.png" id="167" name="Google Shape;16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72375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Variational Autoencoders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(VAEs)</a:t>
            </a:r>
            <a:endParaRPr/>
          </a:p>
        </p:txBody>
      </p:sp>
      <p:pic>
        <p:nvPicPr>
          <p:cNvPr descr="image.png" id="170" name="Google Shape;17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266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362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4577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62300"/>
            <a:ext cx="52387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552825"/>
            <a:ext cx="11144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0087" y="3552825"/>
            <a:ext cx="136207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82200" y="3552825"/>
            <a:ext cx="124777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904875" y="2266950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 model learns to look at completely random static and incrementally predict and subtract noise, step-by-step.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904875" y="336232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Strengths: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State-of-the-art visual quality. No mode collapse. The engine behind Midjourney and DALL-E.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04875" y="41719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Weaknesses: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Slow generation speed (requires hundreds of sequential de-noising steps).</a:t>
            </a:r>
            <a:endParaRPr/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8143" y="38957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8356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Diffusion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Models</a:t>
            </a:r>
            <a:endParaRPr/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2266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362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1719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76600"/>
            <a:ext cx="523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667125"/>
            <a:ext cx="12382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425" y="3667125"/>
            <a:ext cx="12763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8226" y="3667125"/>
            <a:ext cx="13716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904875" y="22669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Uses Self-Attention to strictly predict the very next token in a sequence based on all prior context.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904875" y="3076575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Strengths: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Unmatched reasoning and structural logic. Powers modern LLMs (ChatGPT) and Vision Transformers (ViT).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04875" y="41719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Weaknesses: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 computational cost as the sequence gets longer ($O(N^2)$ scaling).</a:t>
            </a:r>
            <a:endParaRPr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02675" y="384810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Autoregressive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Models (Transformers)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266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076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1719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18"/>
          <p:cNvGraphicFramePr/>
          <p:nvPr/>
        </p:nvGraphicFramePr>
        <p:xfrm>
          <a:off x="571500" y="2171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{D67EAC58-E530-4962-A349-26E5EFB9B576}</a:tableStyleId>
              </a:tblPr>
              <a:tblGrid>
                <a:gridCol w="2114100"/>
                <a:gridCol w="1937900"/>
                <a:gridCol w="2428725"/>
                <a:gridCol w="2340625"/>
                <a:gridCol w="222765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Diffusion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Autoregressive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Fast (1-Step)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Fast (1-Step)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Slow (Multi-Step)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Sequential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 (Soft)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Ultra-High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(Text/Code)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Images / Video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Latent Compression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Images / Audio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Text / 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8"/>
          <p:cNvSpPr/>
          <p:nvPr/>
        </p:nvSpPr>
        <p:spPr>
          <a:xfrm>
            <a:off x="571500" y="2738437"/>
            <a:ext cx="2114103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2685603" y="2738437"/>
            <a:ext cx="193789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623494" y="2738437"/>
            <a:ext cx="242872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052220" y="2738437"/>
            <a:ext cx="234061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9392840" y="2738437"/>
            <a:ext cx="222765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571500" y="3300412"/>
            <a:ext cx="2114103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2685603" y="3300412"/>
            <a:ext cx="193789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4623494" y="3300412"/>
            <a:ext cx="242872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7052220" y="3300412"/>
            <a:ext cx="234061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9392840" y="3300412"/>
            <a:ext cx="222765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571500" y="3862387"/>
            <a:ext cx="2114103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2685603" y="3862387"/>
            <a:ext cx="193789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4623494" y="3862387"/>
            <a:ext cx="242872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7052220" y="3862387"/>
            <a:ext cx="234061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9392840" y="3862387"/>
            <a:ext cx="222765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571500" y="4424362"/>
            <a:ext cx="2114103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2685603" y="4424362"/>
            <a:ext cx="193789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623494" y="4424362"/>
            <a:ext cx="242872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7052220" y="4424362"/>
            <a:ext cx="234061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9392840" y="4424362"/>
            <a:ext cx="222765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71500" y="4986337"/>
            <a:ext cx="2114103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2685603" y="4986337"/>
            <a:ext cx="1937891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623494" y="4986337"/>
            <a:ext cx="2428726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7052220" y="4986337"/>
            <a:ext cx="234061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9392840" y="4986337"/>
            <a:ext cx="2227659" cy="95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 Selection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Matrix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